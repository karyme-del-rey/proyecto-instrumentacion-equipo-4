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NACIONAL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ESIQIE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un Sistema de Control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Instrumentación para una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de Absorción con Chaqueta Térmica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Industrial  |  Grupo 5IV81  |  Equipo 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Díaz R. D.  •  Lopez Paz A.  •  Martínez Alamilla D. M.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Hernández C. A.  •  Ramírez Paz B.  •  Zenderos Ramírez K.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Ing. José Ignacio Rauda Rodríguez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32004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051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389888"/>
            <a:ext cx="32004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3898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1389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Proceso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1728216"/>
            <a:ext cx="32004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7282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17282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PFD y DTI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066544"/>
            <a:ext cx="32004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0665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066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Control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2404872"/>
            <a:ext cx="32004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404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2404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Instrumentación: Presión, Temperatura, Nivel, Flujo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2743200"/>
            <a:ext cx="32004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743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2743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Válvulas y Sistema de Bombeo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081528"/>
            <a:ext cx="32004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0815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081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Lazos de Control PID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3419856"/>
            <a:ext cx="32004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4198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3419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Típica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3758184"/>
            <a:ext cx="32004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7581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88720" y="37581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 y Calibración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" y="4096512"/>
            <a:ext cx="32004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096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8720" y="4096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Aplicable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1520" y="4434840"/>
            <a:ext cx="32004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434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3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18288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37160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sistema completo de control e instrumentación para una columna de absorción con chaqueta térmica, seleccionando los instrumentos adecuados para la medición y control de las variables críticas del proceso: temperatura, presión, nivel y flujo.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fundamentada de instrumentación industrial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lazos de control PID cerrados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de instalación, puesta en marcha y calibración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normas internacionales (ISA, API, IEC, ASME)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Proceso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4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de Absorción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55448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unitaria de transferencia de masa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gas-líquido en contracorriente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Chaqueta térmica para control de temperatura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Fluido: mezclas agua/solvente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Conductividad mínima: &gt; 5 μS/cm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Operación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55448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líquido entrada: 80 LPM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vapor salida: 130 LPM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operación: 2.5 bar (manom.)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objetivo: 40°C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sistema: 10-400 PSIG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 de Proceso (PFD)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5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PFD identifica 9 líneas de proceso principales: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73152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54864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Entrada de líquido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Salida de líquido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Entrada vapor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Salida de vapor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Entrada chaqueta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Salida chaqueta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Línea de recirculación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Línea de alivio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</a:rPr>
                        <a:t>L9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Línea de drenaje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equipos: columna, chaqueta, tanque de acumulación, bomba centrífuga y válvulas de alivio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Tubería e Instrumentación (DTI)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6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887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Simbología conforme a norma ISA-5.1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funcional de cada instrumento (ej: TIT = Transmisor Indicador de Temperatura)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de señal: 4-20 mA analógico / HART digital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instrumentos individuales representados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651760" cy="7315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Presión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651760" cy="7315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Transmisor Indicador Temp.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651760" cy="7315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Transmisor de Nivel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651760" cy="7315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de Flujo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657600"/>
            <a:ext cx="2651760" cy="7315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PCV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Válv. Control Presión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657600"/>
            <a:ext cx="2651760" cy="7315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Válv. Seguridad Presión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Control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7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08760"/>
            <a:ext cx="640080" cy="640080"/>
          </a:xfrm>
          <a:prstGeom prst="ellipse">
            <a:avLst/>
          </a:prstGeom>
          <a:solidFill>
            <a:srgbClr val="E53935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via chaqueta térmica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188720"/>
            <a:ext cx="196596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188720"/>
            <a:ext cx="196596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6" name="Shape 14"/>
          <p:cNvSpPr/>
          <p:nvPr/>
        </p:nvSpPr>
        <p:spPr>
          <a:xfrm>
            <a:off x="3154680" y="1508760"/>
            <a:ext cx="640080" cy="640080"/>
          </a:xfrm>
          <a:prstGeom prst="ellipse">
            <a:avLst/>
          </a:prstGeom>
          <a:solidFill>
            <a:srgbClr val="1E88E5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604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2651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bar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51760" y="32004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con válvula de alivio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196596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188720"/>
            <a:ext cx="1965960" cy="5486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0" y="1508760"/>
            <a:ext cx="640080" cy="640080"/>
          </a:xfrm>
          <a:prstGeom prst="ellipse">
            <a:avLst/>
          </a:prstGeom>
          <a:solidFill>
            <a:srgbClr val="43A047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5488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651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00600" y="32004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 recirculación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1188720"/>
            <a:ext cx="196596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1188720"/>
            <a:ext cx="1965960" cy="5486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0" name="Shape 28"/>
          <p:cNvSpPr/>
          <p:nvPr/>
        </p:nvSpPr>
        <p:spPr>
          <a:xfrm>
            <a:off x="7452360" y="1508760"/>
            <a:ext cx="640080" cy="640080"/>
          </a:xfrm>
          <a:prstGeom prst="ellipse">
            <a:avLst/>
          </a:prstGeom>
          <a:solidFill>
            <a:srgbClr val="FB8C00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90372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2651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80/130 LPM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49440" y="32004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 entrada / Vapor salida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de Presión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8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- Indicador Local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554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WIKA 232.50 - Manómetro Bourdon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0-6 bar, Clase 1.0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Conexión: ½" NPT, acero inox.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54864" cy="1645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- Transmisor Indicador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554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SITRANS P DS III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4-20 mA + HART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 ±0.075%, IP67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035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- Controlador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3832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TIA Portal (PLC S7-1500)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PID configurado en HMI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PROFINET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26080"/>
            <a:ext cx="54864" cy="1463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30632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3035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 - Alarma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3832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WinCC (SCADA)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de alta presión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tendencias en tiempo real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de Temperatura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9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- Sensor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5544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SITRANS TS100 (PT100)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RTD Platino, conexión 3 hilos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-50 a 400°C, Clase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 - Transmisor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5544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SITRANS TH320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4-20 mA + HART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en cabezal DIN-B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51760"/>
            <a:ext cx="54864" cy="13716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- Indicador Local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108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WIKA A53 Bimetálico Industrial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directa en campo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0-100°C, IP65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3931920" cy="13716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651760"/>
            <a:ext cx="54864" cy="13716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278892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- Termopozo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108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WIKA TW10, Acero 316 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del sensor contra fluido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según ASME PTC 19.3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PID: Sensor TE → Transmisor TIT → PLC → Válvula de Control TCV (SAMSON 3241)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de Nivel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10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0604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2070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LT-2 Transmisor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E+H Levelflex FMP54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guiado, ±2 mm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4-20 mA + HART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0604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54864" cy="1645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6200" y="12070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LI-2 Indicador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SITRANS RD100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LCD digital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en panel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06040" cy="16459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97280"/>
            <a:ext cx="54864" cy="1645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12070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LG-7 Visual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Kobold BNA magnético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bicolor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directa nivel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035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LS-1/LS-9 Switches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33832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VEGASWING 63 - Horquilla vibratoria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alto (LS-1) y bajo (LS-9)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SIL 2, respuesta &lt; 1s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926080"/>
            <a:ext cx="54864" cy="1463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3" name="Shape 31"/>
          <p:cNvSpPr/>
          <p:nvPr/>
        </p:nvSpPr>
        <p:spPr>
          <a:xfrm>
            <a:off x="4937760" y="30632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3035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LAH/LAL Alarmas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83480" y="33832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Patlite LR6 - Torre de señalización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visual (LED) + audible (buzzer)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alto y nivel bajo independientes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de Flujo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11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Electromagnético - Líquidos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55448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Endress+Hauser Promag P 300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Principio: Ley de Faraday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 ±0.5% lectura + 1 mm/s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puntos de medición: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Entrada líquido (L1)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Entrada/salida chaqueta (L5/L6)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Salida líquido (L2)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Recirculación bomba (L7)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Req: conductividad &gt; 5 μS/cm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54864" cy="3200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Vórtex - Vapor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55448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Endress+Hauser Prowirl F 200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Principio: Von Kármán (desprendimiento)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 ±1% lectura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Salida de vapor (L4)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Sin partes móviles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Ideal para baja densidad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Opera hasta 250°C / 40 bar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4-20 mA + HART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Válvulas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12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2070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Alivio (PSV)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55448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unidades: PSV-1, 2, 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520 resorte cargado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set: 10-400 PSIG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SS 316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sobrepresión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0604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54864" cy="3200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6200" y="12070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155448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EZ (presión)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Globe valve, CV ajustable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Actuador neumático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3241 (temperatura)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Posicionador digital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Señal 4-20 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06040" cy="320040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97280"/>
            <a:ext cx="54864" cy="3200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12070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55448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válvulas aislamiento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Flow-Tek (bola)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KITZ (compuerta)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Velan (globo)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Worcester (mariposa)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mantenimiento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Bombeo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13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Flowserve Durco Mark 3 ISO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centrífuga con variador de frecuencia (VFD)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B5F6"/>
                          </a:solidFill>
                        </a:rPr>
                        <a:t>Capacidad máxima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475 m³/h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B5F6"/>
                          </a:solidFill>
                        </a:rPr>
                        <a:t>Cabeza máxima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150 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B5F6"/>
                          </a:solidFill>
                        </a:rPr>
                        <a:t>Presión máxima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25 bar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B5F6"/>
                          </a:solidFill>
                        </a:rPr>
                        <a:t>Sello mecánico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API 682 doble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B5F6"/>
                          </a:solidFill>
                        </a:rPr>
                        <a:t>Compatibilidad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Solventes orgánicos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B5F6"/>
                          </a:solidFill>
                        </a:rPr>
                        <a:t>Control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VFD para lazo de nivel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 de Control - Nivel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14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2194560" cy="109728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LT-2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Nivel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1920240"/>
            <a:ext cx="73152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B5F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2194560" cy="109728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PID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73152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B5F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2194560" cy="109728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E+H Levelflex FMP54 (radar guiado, ±2 mm)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S7-1500 con algoritmo PID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en bomba Flowserve Durco Mark 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velocidad de bomba para mantener nivel set-point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 de Control - Presión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15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2194560" cy="109728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PIT-6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Transmisor 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1920240"/>
            <a:ext cx="73152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B5F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2194560" cy="109728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/ PIC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PID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73152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B5F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2194560" cy="109728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SITRANS P DS III (4-20 mA + HART)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TIA Portal con PID en PLC S7-1500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EZ globe valve con actuador neumático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de presión a 2.5 bar mediante apertura/cierre de válvula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 de Control - Temperatura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16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2194560" cy="109728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+ TIT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+ Trans.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1920240"/>
            <a:ext cx="73152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B5F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2194560" cy="1097280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/ 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PID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731520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B5F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2194560" cy="109728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SITRANS TS100 (PT100, 3 hilos) + TH320 transmisor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S7-1500, algoritmo PID, set-point: 40°C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3241 con posicionador digital en chaqueta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flujo térmico a través de chaqueta para mantener 40°C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Típica de Instrumentos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17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y Temperatura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554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a la misma altura del tap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Termopozos: inserción ⅓ diámetro tubería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Válvulas de bloqueo para mantenimiento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vertical preferente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23444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554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lateral en tanque de acumulación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bridadas con válvulas aislamiento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alto/bajo en puntos críticos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in-situ con nivel real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944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29184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Tramos rectos: 5D aguas arriba, 3D abajo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Electrodo en contacto con fluido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Aterrizaje eléctrico obligatorio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para mantenimiento sin paro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83464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2971800"/>
            <a:ext cx="365760" cy="365760"/>
          </a:xfrm>
          <a:prstGeom prst="ellipse">
            <a:avLst/>
          </a:prstGeom>
          <a:solidFill>
            <a:srgbClr val="2196F3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44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29184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Cableado: 4-20 mA apantallado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IP65/67 mínima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ISA-5.1 en cada punto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para calibración y servicio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de Puesta en Marcha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18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38328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Pre-operacional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visual de montaje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conexiones eléctricas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 de alimentación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tag numbers vs DTI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338328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Lazo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checking de cada lazo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señales 4-20 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alarmas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válvulas de alivio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51760" cy="338328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Inicial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Llenado gradual del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parámetros PID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lazos de control en auto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set-points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de Calibración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19 / 22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Método de Calibración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Norma / Referencia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8E5"/>
                          </a:solidFill>
                        </a:rPr>
                        <a:t>Presión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Dead-weight tester, calibrador digital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ASME B40.100 Clase 1.6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</a:rPr>
                        <a:t>Temperatura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Baño seco, termómetro de referencia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IEC 60751 Clase 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</a:rPr>
                        <a:t>Nivel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Calibración húmeda in-situ, mapeo eco falso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Protocolo E+H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B8C00"/>
                          </a:solidFill>
                        </a:rPr>
                        <a:t>Flujo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Verificación cero, impedancia electrodos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Factor K verificación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97B"/>
                          </a:solidFill>
                        </a:rPr>
                        <a:t>Válvulas 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Stroke test (±1%), fugas asiento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ANSI/FCI 70-2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B1FA2"/>
                          </a:solidFill>
                        </a:rPr>
                        <a:t>Válvulas Alivio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Pop pressure test, reseat 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API 527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y Estándares Aplicables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20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ISA-5.1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Simbología de instrumentación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53896"/>
            <a:ext cx="8229600" cy="36576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538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520 / 521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4538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Dimensionamiento válvulas de alivio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56232"/>
            <a:ext cx="822960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56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ASME B31.3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856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Tubería de proceso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58568"/>
            <a:ext cx="8229600" cy="36576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58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60534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258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Válvulas de control industrial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822960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609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60751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6609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Termómetros de resistencia de platino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61511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funcional (SIS)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65576"/>
            <a:ext cx="822960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655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610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4655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Bombas centrífugas para petroquímica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67912"/>
            <a:ext cx="8229600" cy="36576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67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682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8679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mecánicos para bombas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70248"/>
            <a:ext cx="8229600" cy="365760"/>
          </a:xfrm>
          <a:prstGeom prst="rect">
            <a:avLst/>
          </a:prstGeom>
          <a:solidFill>
            <a:srgbClr val="16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70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10816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42702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vibración en maquinaria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ESIQIE - IPN  |  Instrumentación Industrial  |  Equipo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0" y="4754880"/>
            <a:ext cx="1371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21 /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6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diseñó un sistema integral de instrumentación y control para la columna de absorción con chaqueta térmica, cubriendo las 4 variables críticas del proceso.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de instrumentos se fundamentó en criterios técnicos (precisión, rango, compatibilidad) y normativos (ISA, API, IEC, ASME).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lazos de control PID (nivel, presión, temperatura) garantizan la estabilidad operativa del proceso.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establecieron procedimientos detallados de instalación, puesta en marcha y calibración para cada tipo de instrumento.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demuestra la integración entre diseño de proceso, selección de instrumentación y sistemas de control automatizado.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04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103120"/>
            <a:ext cx="182880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4 - Grupo 5IV81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Industrial - ESIQIE - IPN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Instrumentación Industrial - Columna de Absorción</dc:title>
  <dc:subject>PptxGenJS Presentation</dc:subject>
  <dc:creator>Equipo 4 - 5IV81</dc:creator>
  <cp:lastModifiedBy>Equipo 4 - 5IV81</cp:lastModifiedBy>
  <cp:revision>1</cp:revision>
  <dcterms:created xsi:type="dcterms:W3CDTF">2026-06-01T04:59:25Z</dcterms:created>
  <dcterms:modified xsi:type="dcterms:W3CDTF">2026-06-01T04:59:25Z</dcterms:modified>
</cp:coreProperties>
</file>